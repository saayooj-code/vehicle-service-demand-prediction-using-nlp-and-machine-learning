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ncizar Serif SemiBold"/>
      <p:regular r:id="rId201314"/>
    </p:embeddedFont>
    <p:embeddedFont>
      <p:font typeface="Familjen Grotesk"/>
      <p:regular r:id="rId201315"/>
    </p:embeddedFont>
    <p:embeddedFont>
      <p:font typeface="Familjen Grotesk SemiBold"/>
      <p:regular r:id="rId201316"/>
    </p:embeddedFont>
    <p:embeddedFont>
      <p:font typeface="Familjen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DBC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DBC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736600"/>
            <a:ext cx="6349841" cy="5334000"/>
          </a:xfrm>
          <a:prstGeom prst="rect">
            <a:avLst/>
          </a:prstGeom>
          <a:solidFill>
            <a:srgbClr val="F2EDE1"/>
          </a:solidFill>
          <a:ln/>
        </p:spPr>
      </p:sp>
      <p:sp>
        <p:nvSpPr>
          <p:cNvPr id="3" name="Text 1"/>
          <p:cNvSpPr/>
          <p:nvPr/>
        </p:nvSpPr>
        <p:spPr>
          <a:xfrm>
            <a:off x="1041374" y="1092200"/>
            <a:ext cx="5587860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Vehicle Service Demand &amp; Workshop Resource Prediction Using NLP and Machine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41374" y="3492897"/>
            <a:ext cx="558786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Student Name: Sayooj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Course / Batch: Data Science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Institution: Trycod Tech School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Guide/Mentor: [Add your guide/mentor name]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 A hybrid system for predicting workshop demand and resources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154833"/>
            <a:ext cx="1097252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Project Overview: A hybrid NLP + Machine Learning system that analyzes customer vehicle-service text, vehicle information, service history, and workshop conditions to predict service demand and workshop resource requirements.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903589"/>
            <a:ext cx="571486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608439"/>
            <a:ext cx="25145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Expected number of service vehicles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14" y="4903589"/>
            <a:ext cx="571486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8914" y="5608439"/>
            <a:ext cx="25145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Expected workshop workload</a:t>
            </a:r>
            <a:endParaRPr lang="en-US" sz="1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4903589"/>
            <a:ext cx="571486" cy="571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48244" y="5608439"/>
            <a:ext cx="251453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Required technicians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573" y="4903589"/>
            <a:ext cx="571486" cy="571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67573" y="5608439"/>
            <a:ext cx="251453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Required service bays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Manual planning makes changing workshop demand difficult to manage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154833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Vehicle service centers receive different types of customer complaints and service requests every day.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81188"/>
            <a:ext cx="319972" cy="3199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8151" y="2681188"/>
            <a:ext cx="192787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Estimate upcoming service demand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815" y="2681188"/>
            <a:ext cx="319972" cy="3199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39382" y="2681188"/>
            <a:ext cx="192787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Plan technicians and allocate service bays</a:t>
            </a:r>
            <a:endParaRPr lang="en-US" sz="1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945830"/>
            <a:ext cx="319972" cy="3199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8151" y="3945830"/>
            <a:ext cx="192787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Prepare spare parts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815" y="3945830"/>
            <a:ext cx="319972" cy="3199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39382" y="3945830"/>
            <a:ext cx="192787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Manage appointment backlogs</a:t>
            </a:r>
            <a:endParaRPr lang="en-US" sz="18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210473"/>
            <a:ext cx="319972" cy="3199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58151" y="5210473"/>
            <a:ext cx="470910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Handle periods of high workshop workload</a:t>
            </a:r>
            <a:endParaRPr lang="en-US" sz="1800" dirty="0"/>
          </a:p>
        </p:txBody>
      </p:sp>
      <p:sp>
        <p:nvSpPr>
          <p:cNvPr id="14" name="Shape 7"/>
          <p:cNvSpPr/>
          <p:nvPr/>
        </p:nvSpPr>
        <p:spPr>
          <a:xfrm>
            <a:off x="6324442" y="2681188"/>
            <a:ext cx="5257668" cy="3567212"/>
          </a:xfrm>
          <a:prstGeom prst="rect">
            <a:avLst/>
          </a:prstGeom>
          <a:solidFill>
            <a:srgbClr val="FBEAB2"/>
          </a:solidFill>
          <a:ln/>
        </p:spPr>
      </p:sp>
      <p:sp>
        <p:nvSpPr>
          <p:cNvPr id="15" name="Text 8"/>
          <p:cNvSpPr/>
          <p:nvPr/>
        </p:nvSpPr>
        <p:spPr>
          <a:xfrm>
            <a:off x="6553036" y="3504803"/>
            <a:ext cx="4800480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Objective: Develop an NLP and Machine Learning system that analyzes customer complaints, vehicle symptoms, service history, technician notes, customer concerns, vehicle information, workshop conditions, local demand, and appointment backlog.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The dataset combines five text inputs with vehicle, customer, and workshop signals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154833"/>
            <a:ext cx="5432984" cy="3428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Dataset: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Vehicle Service Resource Prediction Dataset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Source: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Project-generated synthetic dataset created specifically for academic NLP and Machine Learning experimentation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Scale: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50,000 records and 29 columns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Inputs: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5 NLP/text features and 20 structured input features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Outputs: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Service Demand, Workshop Load Forecast, Technicians Required, Service Bays Required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658" y="2487116"/>
            <a:ext cx="457188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97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Preprocessing turns service language and workshop context into a usable feature matrix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813149"/>
            <a:ext cx="5257668" cy="3337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Raw Dataset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Missing Value Handling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Duplicate Checking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Text Cleaning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TF-IDF Vectorization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6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Categorical Encoding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Numerical Feature Preparation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8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Feature Combination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9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Train-Test Split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24442" y="2813149"/>
            <a:ext cx="5257668" cy="3371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Five text features: Customer Complaint, Vehicle Symptoms, Service History, Technician Notes, Customer Concern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Text cleaning: lowercase, punctuation removal, whitespace cleanup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TF-IDF with unigrams + bigrams and a maximum of 1,000 features per text field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One-Hot Encoding for vehicle type, engine type, service category, season, customer segment, and workshop zone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89498" y="2813149"/>
            <a:ext cx="12700" cy="3371255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Four XGBoost regressors convert mixed features into four workshop predictions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2154833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0028" y="2240558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646958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Dataset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28914" y="2154833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99358" y="2240558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8914" y="2646958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Data Preprocessing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72046" y="2154833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2489" y="2240558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72046" y="2646958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Five NLP Text Features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915177" y="2154833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85621" y="2240558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15177" y="2646958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TF-IDF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585" y="3073499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028" y="3159224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585" y="3565624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Vehicle &amp; Workshop Data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428914" y="3073499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9358" y="3159224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28914" y="3565624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One-Hot Encoding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2046" y="3073499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2489" y="3159224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046" y="3565624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Feature Combination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915177" y="3073499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85621" y="3159224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15177" y="3565624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Train-Test Split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9585" y="3992166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028" y="4077891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9585" y="4484291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XGBoost Regression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428914" y="3992166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9358" y="4077891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28914" y="4484291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Multiple Predictions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172046" y="3992166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2489" y="4077891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11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72046" y="4484291"/>
            <a:ext cx="25907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915177" y="3992166"/>
            <a:ext cx="400040" cy="400050"/>
          </a:xfrm>
          <a:prstGeom prst="ellipse">
            <a:avLst/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85621" y="4077891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12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915177" y="4484291"/>
            <a:ext cx="26669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Gradio Interface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09585" y="4885531"/>
            <a:ext cx="5257668" cy="1417141"/>
          </a:xfrm>
          <a:prstGeom prst="rect">
            <a:avLst/>
          </a:prstGeom>
          <a:solidFill>
            <a:srgbClr val="F2EDE1"/>
          </a:solidFill>
          <a:ln/>
        </p:spPr>
      </p:sp>
      <p:sp>
        <p:nvSpPr>
          <p:cNvPr id="40" name="Text 38"/>
          <p:cNvSpPr/>
          <p:nvPr/>
        </p:nvSpPr>
        <p:spPr>
          <a:xfrm>
            <a:off x="838179" y="5114131"/>
            <a:ext cx="480048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Four separate XGBoost regression models predict Service Demand, Workshop Load Forecast, Technicians Required, and Service Bays Required.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324442" y="4885531"/>
            <a:ext cx="5257668" cy="1417141"/>
          </a:xfrm>
          <a:prstGeom prst="rect">
            <a:avLst/>
          </a:prstGeom>
          <a:solidFill>
            <a:srgbClr val="FBEAB2"/>
          </a:solidFill>
          <a:ln/>
        </p:spPr>
      </p:sp>
      <p:sp>
        <p:nvSpPr>
          <p:cNvPr id="42" name="Text 40"/>
          <p:cNvSpPr/>
          <p:nvPr/>
        </p:nvSpPr>
        <p:spPr>
          <a:xfrm>
            <a:off x="6553036" y="5114131"/>
            <a:ext cx="480048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XGBoost was selected because it handles nonlinear relationships, large datasets, complex feature interactions, and regression tasks.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298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750" spc="-57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Evaluation uses regression metrics, with notebook results still to be entered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09585" y="2130227"/>
            <a:ext cx="5333867" cy="626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5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This project is primarily a Regression Problem because the system predicts numerical values.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09585" y="2886472"/>
            <a:ext cx="5333867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55600" indent="-355600">
              <a:lnSpc>
                <a:spcPct val="116000"/>
              </a:lnSpc>
              <a:buSzPct val="100000"/>
              <a:buChar char="•"/>
            </a:pPr>
            <a:r>
              <a:rPr lang="en-US" sz="175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MAE:</a:t>
            </a:r>
            <a:pPr algn="l" marL="355600" indent="-355600">
              <a:lnSpc>
                <a:spcPct val="116000"/>
              </a:lnSpc>
              <a:buSzPct val="100000"/>
              <a:buChar char="•"/>
            </a:pPr>
            <a:r>
              <a:rPr lang="en-US" sz="175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Measures average absolute prediction error</a:t>
            </a:r>
            <a:endParaRPr lang="en-US" sz="1750" dirty="0"/>
          </a:p>
          <a:p>
            <a:pPr algn="l" marL="355600" indent="-355600">
              <a:lnSpc>
                <a:spcPct val="116000"/>
              </a:lnSpc>
              <a:buSzPct val="100000"/>
              <a:buChar char="•"/>
            </a:pPr>
            <a:r>
              <a:rPr lang="en-US" sz="175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RMSE:</a:t>
            </a:r>
            <a:pPr algn="l" marL="355600" indent="-355600">
              <a:lnSpc>
                <a:spcPct val="116000"/>
              </a:lnSpc>
              <a:buSzPct val="100000"/>
              <a:buChar char="•"/>
            </a:pPr>
            <a:r>
              <a:rPr lang="en-US" sz="175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Gives higher penalty to larger errors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248244" y="2130227"/>
            <a:ext cx="5333867" cy="626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55600" indent="-355600">
              <a:lnSpc>
                <a:spcPct val="116000"/>
              </a:lnSpc>
              <a:buSzPct val="100000"/>
              <a:buChar char="•"/>
            </a:pPr>
            <a:r>
              <a:rPr lang="en-US" sz="175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R² Score:</a:t>
            </a:r>
            <a:pPr algn="l" indent="0" marL="0">
              <a:lnSpc>
                <a:spcPct val="116000"/>
              </a:lnSpc>
              <a:buNone/>
            </a:pPr>
            <a:r>
              <a:rPr lang="en-US" sz="175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Measures how well the model explains variation in the target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48244" y="2886472"/>
            <a:ext cx="5333867" cy="1253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5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Training setup: 80% training data, 20% testing data, Random State = 42. Do not mention cross-validation or hyperparameter tuning unless completed in the notebook.</a:t>
            </a:r>
            <a:endParaRPr lang="en-US" sz="1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340423"/>
          <a:ext cx="9143771" cy="914400"/>
        </p:xfrm>
        <a:graphic>
          <a:graphicData uri="http://schemas.openxmlformats.org/drawingml/2006/table">
            <a:tbl>
              <a:tblPr/>
              <a:tblGrid>
                <a:gridCol w="3291758"/>
                <a:gridCol w="2413956"/>
                <a:gridCol w="2633406"/>
                <a:gridCol w="2633406"/>
              </a:tblGrid>
              <a:tr h="5062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Target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MAE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RMSE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R²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2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Service Demand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2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Workshop Load Forecast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2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Technicians Required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5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Service Bays Required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16233F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-120"/>
                        </a:rPr>
                        <a:t>[Enter actual value]</a:t>
                      </a:r>
                      <a:endParaRPr lang="en-US" sz="175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69067" marR="169067" marT="90169" marB="90169" anchor="ctr">
                    <a:lnL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The Gradio interface turns predictions into a workshop preparation recommendation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154833"/>
            <a:ext cx="5333867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Sample Input: SUV; 5 years; 70,000 KM; Petrol; Engine service; engine vibration and unusual noise during acceleration; rough idle and slow acceleration; workshop load 60%; technician availability 75%; local demand index 60.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3888085"/>
            <a:ext cx="5333867" cy="2205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Service Demand: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58 vehicles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Workshop Load Forecast: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69%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Technicians Required: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8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Service Bays Required: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11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Demand Level: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Medium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Parts Requirement: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Medium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48244" y="2154833"/>
            <a:ext cx="5333867" cy="2373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Recommendation: Prepare the workshop for approximately 58 vehicles. Arrange 8 technicians and 11 service bays. Expected workshop load is 69%.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Real-world impact: estimate workload, plan technicians, allocate service bays, prepare spare parts, manage backlogs, reduce waiting time, and support business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The system’s next step is broader data, richer language support, and deployment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154833"/>
            <a:ext cx="3428914" cy="2053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More Real-World Data:</a:t>
            </a:r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Use actual service-center records instead of synthetic academic data.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Multilingual NLP: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Support Malayalam, Hindi, Tamil, and other regional languages.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495688" y="2154833"/>
            <a:ext cx="3200320" cy="269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Advanced NLP:</a:t>
            </a:r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Explore Word Embeddings, LSTM, BERT, and Transformer Models.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Additional Features: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Weather, traffic, holidays/events, regional vehicle trends, real-time appointments, and spare-parts inventory.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53196" y="2154833"/>
            <a:ext cx="3428914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Deployment: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Web Application, Mobile Application, Cloud Prediction Service, or Service-Center Management 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5608439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Conclusion: NLP and Machine Learning can support automotive workshop planning by combining customer text, vehicle information, and workshop information to predict four resource requirements.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60743" y="2154833"/>
            <a:ext cx="12700" cy="3275806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18252" y="2154833"/>
            <a:ext cx="12700" cy="3275806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06879" y="609600"/>
            <a:ext cx="3577937" cy="845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6400" spc="-96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854652" y="1683445"/>
            <a:ext cx="24823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Questions &amp; Answers?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88661" y="5402064"/>
            <a:ext cx="8814274" cy="846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Vehicle Service Demand &amp; Workshop Resource Prediction Using NLP and Machine Learning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Sayooj | Data Science | Trycod Tech School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2026-09-30T16:43:16Z</dcterms:created>
  <dcterms:modified xsi:type="dcterms:W3CDTF">2026-09-30T16:43:16Z</dcterms:modified>
</cp:coreProperties>
</file>